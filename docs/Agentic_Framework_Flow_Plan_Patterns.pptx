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5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395728"/>
            <a:ext cx="109728" cy="196596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2C2C2A"/>
                </a:solidFill>
                <a:latin typeface="Segoe UI"/>
              </a:rPr>
              <a:t>Agentic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3429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534AB7"/>
                </a:solidFill>
                <a:latin typeface="Segoe UI"/>
              </a:rPr>
              <a:t>Flow · Plan · Patterns — a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069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F5E5A"/>
                </a:solidFill>
                <a:latin typeface="Segoe UI"/>
              </a:rPr>
              <a:t>Planner-driven DAG execution · shared blackboard · A2A transport · memory &amp; observability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029200"/>
            <a:ext cx="1280160" cy="310896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C3489"/>
                </a:solidFill>
                <a:latin typeface="Segoe UI"/>
              </a:rPr>
              <a:t>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5029200"/>
            <a:ext cx="1097280" cy="310896"/>
          </a:xfrm>
          <a:prstGeom prst="roundRect">
            <a:avLst/>
          </a:prstGeom>
          <a:solidFill>
            <a:srgbClr val="FAECE7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12B13"/>
                </a:solidFill>
                <a:latin typeface="Segoe UI"/>
              </a:rPr>
              <a:t>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5029200"/>
            <a:ext cx="1783080" cy="310896"/>
          </a:xfrm>
          <a:prstGeom prst="roundRect">
            <a:avLst/>
          </a:prstGeom>
          <a:solidFill>
            <a:srgbClr val="FAEEDA"/>
          </a:solidFill>
          <a:ln w="9525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33806"/>
                </a:solidFill>
                <a:latin typeface="Segoe UI"/>
              </a:rPr>
              <a:t>Tools / 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5029200"/>
            <a:ext cx="1691640" cy="310896"/>
          </a:xfrm>
          <a:prstGeom prst="roundRect">
            <a:avLst/>
          </a:prstGeom>
          <a:solidFill>
            <a:srgbClr val="E1F5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85041"/>
                </a:solidFill>
                <a:latin typeface="Segoe UI"/>
              </a:rPr>
              <a:t>Memory &amp;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5029200"/>
            <a:ext cx="1554480" cy="310896"/>
          </a:xfrm>
          <a:prstGeom prst="roundRect">
            <a:avLst/>
          </a:prstGeom>
          <a:solidFill>
            <a:srgbClr val="EAF3DE"/>
          </a:solidFill>
          <a:ln w="9525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7500A"/>
                </a:solidFill>
                <a:latin typeface="Segoe UI"/>
              </a:rPr>
              <a:t>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What this deck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Eight zones, one request-to-response lifecycle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69164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C3489"/>
                </a:solidFill>
                <a:latin typeface="Segoe UI"/>
              </a:rPr>
              <a:t>01   Request → response 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34AB7"/>
                </a:solidFill>
                <a:latin typeface="Segoe UI"/>
              </a:rPr>
              <a:t>The end-to-end pipeline from prompt to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69164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C3489"/>
                </a:solidFill>
                <a:latin typeface="Segoe UI"/>
              </a:rPr>
              <a:t>02   How the Planner builds the plan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34AB7"/>
                </a:solidFill>
                <a:latin typeface="Segoe UI"/>
              </a:rPr>
              <a:t>Intent split, registry match, DAG, SLA budgets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8036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12B13"/>
                </a:solidFill>
                <a:latin typeface="Segoe UI"/>
              </a:rPr>
              <a:t>03   Plan → execution waves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93C1D"/>
                </a:solidFill>
                <a:latin typeface="Segoe UI"/>
              </a:rPr>
              <a:t>Dependencies become parallel waves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88036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397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633806"/>
                </a:solidFill>
                <a:latin typeface="Segoe UI"/>
              </a:rPr>
              <a:t>04   A2A transport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JSON-RPC vs Kafka, derived not configured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6908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85041"/>
                </a:solidFill>
                <a:latin typeface="Segoe UI"/>
              </a:rPr>
              <a:t>05   Memory &amp; state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Scratchpad, Redis, Postgres, Milvus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06908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85041"/>
                </a:solidFill>
                <a:latin typeface="Segoe UI"/>
              </a:rPr>
              <a:t>06   Commit &amp; write discipline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Durable facts only after the gate passes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5780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13970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7500A"/>
                </a:solidFill>
                <a:latin typeface="Segoe UI"/>
              </a:rPr>
              <a:t>07   Observability &amp; versioning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B6D11"/>
                </a:solidFill>
                <a:latin typeface="Segoe UI"/>
              </a:rPr>
              <a:t>Spans, traces, registry contract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525780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397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633806"/>
                </a:solidFill>
                <a:latin typeface="Segoe UI"/>
              </a:rPr>
              <a:t>08   Partial streaming &amp; backpressure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Progressive delivery, consumer-lag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Request → response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One natural prompt drives the whole lifecycle — no agent calls another directly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27632"/>
            <a:ext cx="6492240" cy="4572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397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C2C2A"/>
                </a:solidFill>
                <a:latin typeface="Segoe UI"/>
              </a:rPr>
              <a:t>User request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F5E5A"/>
                </a:solidFill>
                <a:latin typeface="Segoe UI"/>
              </a:rPr>
              <a:t>One natural prompt with several intents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2084832"/>
            <a:ext cx="0" cy="105156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2189988"/>
            <a:ext cx="6492240" cy="4572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C3489"/>
                </a:solidFill>
                <a:latin typeface="Segoe UI"/>
              </a:rPr>
              <a:t>Planner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34AB7"/>
                </a:solidFill>
                <a:latin typeface="Segoe UI"/>
              </a:rPr>
              <a:t>Split intents → match agents → wire DAG → assign SLA budgets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2647188"/>
            <a:ext cx="0" cy="105156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2752344"/>
            <a:ext cx="6492240" cy="4572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C3489"/>
                </a:solidFill>
                <a:latin typeface="Segoe UI"/>
              </a:rPr>
              <a:t>Orchestrator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34AB7"/>
                </a:solidFill>
                <a:latin typeface="Segoe UI"/>
              </a:rPr>
              <a:t>Runs the DAG in dependency waves · tracks agent health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25880" y="3209544"/>
            <a:ext cx="0" cy="105156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3314700"/>
            <a:ext cx="6492240" cy="4572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12B13"/>
                </a:solidFill>
                <a:latin typeface="Segoe UI"/>
              </a:rPr>
              <a:t>Selected agents execute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93C1D"/>
                </a:solidFill>
                <a:latin typeface="Segoe UI"/>
              </a:rPr>
              <a:t>Wave 1 → Wave 2 (parallel) → Wave 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25880" y="3771900"/>
            <a:ext cx="0" cy="105156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3877056"/>
            <a:ext cx="6492240" cy="45720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397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33806"/>
                </a:solidFill>
                <a:latin typeface="Segoe UI"/>
              </a:rPr>
              <a:t>Tool / MCP gateway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54F0B"/>
                </a:solidFill>
                <a:latin typeface="Segoe UI"/>
              </a:rPr>
              <a:t>Outage DB, OASIS API, vector search · enforces bounds · emits spans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25880" y="4334256"/>
            <a:ext cx="0" cy="105156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4439412"/>
            <a:ext cx="6492240" cy="4572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85041"/>
                </a:solidFill>
                <a:latin typeface="Segoe UI"/>
              </a:rPr>
              <a:t>Shared state / blackboard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6E56"/>
                </a:solidFill>
                <a:latin typeface="Segoe UI"/>
              </a:rPr>
              <a:t>Every agent writes here · error flags visible to the gate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25880" y="4896612"/>
            <a:ext cx="0" cy="105156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" y="5001768"/>
            <a:ext cx="6492240" cy="4572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C3489"/>
                </a:solidFill>
                <a:latin typeface="Segoe UI"/>
              </a:rPr>
              <a:t>Completion gate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34AB7"/>
                </a:solidFill>
                <a:latin typeface="Segoe UI"/>
              </a:rPr>
              <a:t>All done? Goal met? Bounds ok? → else re-plan (iter ≤ max)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25880" y="5458968"/>
            <a:ext cx="0" cy="105156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5564124"/>
            <a:ext cx="6492240" cy="4572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C3489"/>
                </a:solidFill>
                <a:latin typeface="Segoe UI"/>
              </a:rPr>
              <a:t>Synthesizer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34AB7"/>
                </a:solidFill>
                <a:latin typeface="Segoe UI"/>
              </a:rPr>
              <a:t>Reads state, composes one answer · marks [PARTIAL] on errors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25880" y="6021324"/>
            <a:ext cx="0" cy="105156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2960" y="6126480"/>
            <a:ext cx="6492240" cy="4572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397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C2C2A"/>
                </a:solidFill>
                <a:latin typeface="Segoe UI"/>
              </a:rPr>
              <a:t>Final response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F5E5A"/>
                </a:solidFill>
                <a:latin typeface="Segoe UI"/>
              </a:rPr>
              <a:t>A single, ordered answer for the user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697480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C3489"/>
                </a:solidFill>
                <a:latin typeface="Segoe UI"/>
              </a:rPr>
              <a:t>Re-plan loop (autonomous)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34AB7"/>
                </a:solidFill>
                <a:latin typeface="Segoe UI"/>
              </a:rPr>
              <a:t>If the gate says “not done” it loops back to the Planner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34AB7"/>
                </a:solidFill>
                <a:latin typeface="Segoe UI"/>
              </a:rPr>
              <a:t>with the current blackboard snapshot.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34AB7"/>
                </a:solidFill>
                <a:latin typeface="Segoe UI"/>
              </a:rPr>
              <a:t>Guard: iteration ≤ max_replans (default 3).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34AB7"/>
                </a:solidFill>
                <a:latin typeface="Segoe UI"/>
              </a:rPr>
              <a:t>At the cap → forced Synthesizer with a partial-result flag.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297680"/>
            <a:ext cx="3931920" cy="16002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85041"/>
                </a:solidFill>
                <a:latin typeface="Segoe UI"/>
              </a:rPr>
              <a:t>Why a shared blackboard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6E56"/>
                </a:solidFill>
                <a:latin typeface="Segoe UI"/>
              </a:rPr>
              <a:t>One workspace every agent reads and writes — no direct calls.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6E56"/>
                </a:solidFill>
                <a:latin typeface="Segoe UI"/>
              </a:rPr>
              <a:t>• Decouples agents: a new one just reads/writes keys.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6E56"/>
                </a:solidFill>
                <a:latin typeface="Segoe UI"/>
              </a:rPr>
              <a:t>• Drives the waves: an agent runs once its inputs appear.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6E56"/>
                </a:solidFill>
                <a:latin typeface="Segoe UI"/>
              </a:rPr>
              <a:t>• Error flags make partial results visible to the gate.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6E56"/>
                </a:solidFill>
                <a:latin typeface="Segoe UI"/>
              </a:rPr>
              <a:t>• Auditable + replayable — every result in one place.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6567055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How the Planner builds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Registry-driven — never a hardcoded list of agents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09928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C2C2A"/>
                </a:solidFill>
                <a:latin typeface="Segoe UI"/>
              </a:rPr>
              <a:t>Split the prompt into intents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488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F5E5A"/>
                </a:solidFill>
                <a:latin typeface="Segoe UI"/>
              </a:rPr>
              <a:t>Each clause of the request becomes a candidate subtask.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70632"/>
            <a:ext cx="566928" cy="566928"/>
          </a:xfrm>
          <a:prstGeom prst="ellipse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8892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C2C2A"/>
                </a:solidFill>
                <a:latin typeface="Segoe UI"/>
              </a:rPr>
              <a:t>Match each intent to a registered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22783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F5E5A"/>
                </a:solidFill>
                <a:latin typeface="Segoe UI"/>
              </a:rPr>
              <a:t>Compare the phrase to every agent’s capability description + tags.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49624"/>
            <a:ext cx="566928" cy="566928"/>
          </a:xfrm>
          <a:prstGeom prst="ellipse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867911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C2C2A"/>
                </a:solidFill>
                <a:latin typeface="Segoe UI"/>
              </a:rPr>
              <a:t>Wire data dependencies into a DAG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30682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F5E5A"/>
                </a:solidFill>
                <a:latin typeface="Segoe UI"/>
              </a:rPr>
              <a:t>If t-B needs t-A’s output, add an edge → ordering falls out.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928616"/>
            <a:ext cx="566928" cy="566928"/>
          </a:xfrm>
          <a:prstGeom prst="ellipse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946903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C2C2A"/>
                </a:solidFill>
                <a:latin typeface="Segoe UI"/>
              </a:rPr>
              <a:t>Assign a timeout budget per subtask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385816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F5E5A"/>
                </a:solidFill>
                <a:latin typeface="Segoe UI"/>
              </a:rPr>
              <a:t>Pull the SLA / timeout hint from the registry record.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691640"/>
            <a:ext cx="4160520" cy="416052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397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C2C2A"/>
                </a:solidFill>
                <a:latin typeface="Segoe UI"/>
              </a:rPr>
              <a:t>Re-entry on re-plan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On a re-plan loop the Planner receives the current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blackboard snapshot and revises only what is missing.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50" b="0">
              <a:solidFill>
                <a:srgbClr val="5F5E5A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Match is by meaning, not keywords: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• “related outages” → Historical Comparison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   (not Linked Outage or OASIS Comparison).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50" b="0">
              <a:solidFill>
                <a:srgbClr val="5F5E5A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Version is pinned at plan time → reproducible replay.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SLA hint flows to the Orchestrator for per-subtask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budgets and transport choice.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50" b="0">
              <a:solidFill>
                <a:srgbClr val="5F5E5A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A new agent is usable the moment it registers 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no Planner code change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Worked example — the plan as a 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“For outage 17299126: details, related outages, scan ERC, OASIS derates, NRS-Scott loss”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00200"/>
            <a:ext cx="960120" cy="310896"/>
          </a:xfrm>
          <a:prstGeom prst="roundRect">
            <a:avLst/>
          </a:prstGeom>
          <a:solidFill>
            <a:srgbClr val="FAEEDA"/>
          </a:solidFill>
          <a:ln w="9525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33806"/>
                </a:solidFill>
                <a:latin typeface="Segoe UI"/>
              </a:rPr>
              <a:t>WAVE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38528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12B13"/>
                </a:solidFill>
                <a:latin typeface="Segoe UI"/>
              </a:rPr>
              <a:t>t1 · Database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93C1D"/>
                </a:solidFill>
                <a:latin typeface="Segoe UI"/>
              </a:rPr>
              <a:t>“details” → pull outage 17299126  ·  deps: none  ·  SLA &lt; 2 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2505456"/>
            <a:ext cx="0" cy="283464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2788920"/>
            <a:ext cx="2103120" cy="310896"/>
          </a:xfrm>
          <a:prstGeom prst="roundRect">
            <a:avLst/>
          </a:prstGeom>
          <a:solidFill>
            <a:srgbClr val="FAEEDA"/>
          </a:solidFill>
          <a:ln w="9525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33806"/>
                </a:solidFill>
                <a:latin typeface="Segoe UI"/>
              </a:rPr>
              <a:t>WAVE 2  —  parallel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27248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12B13"/>
                </a:solidFill>
                <a:latin typeface="Segoe UI"/>
              </a:rPr>
              <a:t>t2 · RAG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93C1D"/>
                </a:solidFill>
                <a:latin typeface="Segoe UI"/>
              </a:rPr>
              <a:t>region + NRS-Scott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93C1D"/>
                </a:solidFill>
                <a:latin typeface="Segoe UI"/>
              </a:rPr>
              <a:t>deps: t1 · SLA &lt; 4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9464" y="3127248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12B13"/>
                </a:solidFill>
                <a:latin typeface="Segoe UI"/>
              </a:rPr>
              <a:t>t3 · Historical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93C1D"/>
                </a:solidFill>
                <a:latin typeface="Segoe UI"/>
              </a:rPr>
              <a:t>find related outages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93C1D"/>
                </a:solidFill>
                <a:latin typeface="Segoe UI"/>
              </a:rPr>
              <a:t>deps: t1 · SLA &lt; 5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127248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12B13"/>
                </a:solidFill>
                <a:latin typeface="Segoe UI"/>
              </a:rPr>
              <a:t>t4 · OASIS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93C1D"/>
                </a:solidFill>
                <a:latin typeface="Segoe UI"/>
              </a:rPr>
              <a:t>path derates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93C1D"/>
                </a:solidFill>
                <a:latin typeface="Segoe UI"/>
              </a:rPr>
              <a:t>deps: t1 · SLA &lt; 8 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0" y="3995928"/>
            <a:ext cx="0" cy="283464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20440" y="4023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F5E5A"/>
                </a:solidFill>
                <a:latin typeface="Segoe UI"/>
              </a:rPr>
              <a:t>needs t3.related_list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79392"/>
            <a:ext cx="2377440" cy="310896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C3489"/>
                </a:solidFill>
                <a:latin typeface="Segoe UI"/>
              </a:rPr>
              <a:t>WAVE 3  —  waits for t3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461772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12B13"/>
                </a:solidFill>
                <a:latin typeface="Segoe UI"/>
              </a:rPr>
              <a:t>t5 · Keyword Scanning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3C1D"/>
                </a:solidFill>
                <a:latin typeface="Segoe UI"/>
              </a:rPr>
              <a:t>scan related outages for “ERC”  ·  deps: t3  ·  SLA &lt; 6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600200"/>
            <a:ext cx="5166360" cy="42976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397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C2C2A"/>
                </a:solidFill>
                <a:latin typeface="Segoe UI"/>
              </a:rPr>
              <a:t>How the match works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The Planner reads the registry — never a hardcoded list.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For each intent it compares the phrase to every agent’s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registered capability description + tags.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00" b="0">
              <a:solidFill>
                <a:srgbClr val="5F5E5A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• t2 and t4 each depend only on t1’s outage record, so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   they run in parallel alongside t3 in Wave 2.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• t5 reads t3’s related list → depends_on t3 → Wave 3.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00" b="0">
              <a:solidFill>
                <a:srgbClr val="5F5E5A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• The SLA hint is passed to the Planner so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   Orchestrator can enforce per-subtask budgets 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   choose the transport.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• Agent version is pinned at plan time → reproducible replay.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• A new agent is usable as soon as it registers.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Plan → execution waves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Parallelism falls out of the graph — the Planner never says “run in parallel”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C2C2A"/>
                </a:solidFill>
                <a:latin typeface="Segoe UI"/>
              </a:rPr>
              <a:t>Plan as a dependency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12B13"/>
                </a:solidFill>
                <a:latin typeface="Segoe UI"/>
              </a:rPr>
              <a:t>Task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6596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12B13"/>
                </a:solidFill>
                <a:latin typeface="Segoe UI"/>
              </a:rPr>
              <a:t>Task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9144" cy="9144"/>
          </a:xfrm>
          <a:prstGeom prst="roundRect">
            <a:avLst/>
          </a:prstGeom>
          <a:solidFill>
            <a:srgbClr val="FAEEDA"/>
          </a:solidFill>
          <a:ln w="9525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1600200" y="2468880"/>
            <a:ext cx="0" cy="320040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520440" y="2468880"/>
            <a:ext cx="0" cy="320040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278892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12B13"/>
                </a:solidFill>
                <a:latin typeface="Segoe UI"/>
              </a:rPr>
              <a:t>Task 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78892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12B13"/>
                </a:solidFill>
                <a:latin typeface="Segoe UI"/>
              </a:rPr>
              <a:t>Task 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3291840"/>
            <a:ext cx="795528" cy="320040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724912" y="3291840"/>
            <a:ext cx="795528" cy="320040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783080" y="361188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12B13"/>
                </a:solidFill>
                <a:latin typeface="Segoe UI"/>
              </a:rPr>
              <a:t>Task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F5E5A"/>
                </a:solidFill>
                <a:latin typeface="Segoe UI"/>
              </a:rPr>
              <a:t>A, B have no deps → Wave 1 (parallel).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F5E5A"/>
                </a:solidFill>
                <a:latin typeface="Segoe UI"/>
              </a:rPr>
              <a:t>C needs A; D needs B → Wave 2 (parallel).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F5E5A"/>
                </a:solidFill>
                <a:latin typeface="Segoe UI"/>
              </a:rPr>
              <a:t>E needs both C and D → Wave 3 (join, sequential wait).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C2C2A"/>
                </a:solidFill>
                <a:latin typeface="Segoe UI"/>
              </a:rPr>
              <a:t>Orchestrator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96596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85041"/>
                </a:solidFill>
                <a:latin typeface="Segoe UI"/>
              </a:rPr>
              <a:t>Wave 1 — parallel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A and B run at once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2514600"/>
            <a:ext cx="0" cy="274320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278892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85041"/>
                </a:solidFill>
                <a:latin typeface="Segoe UI"/>
              </a:rPr>
              <a:t>Wave 2 — parallel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C and D run at once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06840" y="3337560"/>
            <a:ext cx="0" cy="274320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0" y="361188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C3489"/>
                </a:solidFill>
                <a:latin typeface="Segoe UI"/>
              </a:rPr>
              <a:t>Wave 3 — sequential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34AB7"/>
                </a:solidFill>
                <a:latin typeface="Segoe UI"/>
              </a:rPr>
              <a:t>E waits for C and 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8912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397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33806"/>
                </a:solidFill>
                <a:latin typeface="Segoe UI"/>
              </a:rPr>
              <a:t>Bounds / policy promotion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54F0B"/>
                </a:solidFill>
                <a:latin typeface="Segoe UI"/>
              </a:rPr>
              <a:t>A subtask whose estimated duration exceeds the budget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54F0B"/>
                </a:solidFill>
                <a:latin typeface="Segoe UI"/>
              </a:rPr>
              <a:t>(e.g. OASIS &gt; 20 s) is automatically promoted from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54F0B"/>
                </a:solidFill>
                <a:latin typeface="Segoe UI"/>
              </a:rPr>
              <a:t>sync JSON-RPC to async Kafka by an Orchestrator rule.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Latency &amp; timeout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Per-subtask SLA hint drives transport choice and the on-timeout policy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22960" y="1737360"/>
            <a:ext cx="2743200" cy="475488"/>
          </a:xfrm>
          <a:prstGeom prst="rect">
            <a:avLst/>
          </a:prstGeom>
          <a:solidFill>
            <a:srgbClr val="534AB7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737360"/>
            <a:ext cx="1371600" cy="475488"/>
          </a:xfrm>
          <a:prstGeom prst="rect">
            <a:avLst/>
          </a:prstGeom>
          <a:solidFill>
            <a:srgbClr val="534AB7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SLA hint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737360"/>
            <a:ext cx="1645920" cy="475488"/>
          </a:xfrm>
          <a:prstGeom prst="rect">
            <a:avLst/>
          </a:prstGeom>
          <a:solidFill>
            <a:srgbClr val="534AB7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Transport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1554480" cy="475488"/>
          </a:xfrm>
          <a:prstGeom prst="rect">
            <a:avLst/>
          </a:prstGeom>
          <a:solidFill>
            <a:srgbClr val="534AB7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On timeout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12848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t1 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212848"/>
            <a:ext cx="1371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&lt; 2 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212848"/>
            <a:ext cx="1645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JSON-RPC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212848"/>
            <a:ext cx="1554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retry ×3 → fail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688336"/>
            <a:ext cx="2743200" cy="475488"/>
          </a:xfrm>
          <a:prstGeom prst="rect">
            <a:avLst/>
          </a:prstGeom>
          <a:solidFill>
            <a:srgbClr val="F4F2EC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t2 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688336"/>
            <a:ext cx="1371600" cy="475488"/>
          </a:xfrm>
          <a:prstGeom prst="rect">
            <a:avLst/>
          </a:prstGeom>
          <a:solidFill>
            <a:srgbClr val="F4F2EC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&lt; 4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688336"/>
            <a:ext cx="1645920" cy="475488"/>
          </a:xfrm>
          <a:prstGeom prst="rect">
            <a:avLst/>
          </a:prstGeom>
          <a:solidFill>
            <a:srgbClr val="F4F2EC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JSON-RPC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688336"/>
            <a:ext cx="1554480" cy="475488"/>
          </a:xfrm>
          <a:prstGeom prst="rect">
            <a:avLst/>
          </a:prstGeom>
          <a:solidFill>
            <a:srgbClr val="F4F2EC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retry ×3 → fail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163824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t3  Historical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163824"/>
            <a:ext cx="1371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&lt; 5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163824"/>
            <a:ext cx="1645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JSON-RPC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163824"/>
            <a:ext cx="1554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retry ×2 → fail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639312"/>
            <a:ext cx="2743200" cy="475488"/>
          </a:xfrm>
          <a:prstGeom prst="rect">
            <a:avLst/>
          </a:prstGeom>
          <a:solidFill>
            <a:srgbClr val="F4F2EC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t4  OASIS (slow)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639312"/>
            <a:ext cx="1371600" cy="475488"/>
          </a:xfrm>
          <a:prstGeom prst="rect">
            <a:avLst/>
          </a:prstGeom>
          <a:solidFill>
            <a:srgbClr val="F4F2EC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&lt; 8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3639312"/>
            <a:ext cx="1645920" cy="475488"/>
          </a:xfrm>
          <a:prstGeom prst="rect">
            <a:avLst/>
          </a:prstGeom>
          <a:solidFill>
            <a:srgbClr val="F4F2EC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Kafka async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639312"/>
            <a:ext cx="1554480" cy="475488"/>
          </a:xfrm>
          <a:prstGeom prst="rect">
            <a:avLst/>
          </a:prstGeom>
          <a:solidFill>
            <a:srgbClr val="F4F2EC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partial 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114800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t5  Keyword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4114800"/>
            <a:ext cx="1371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&lt; 6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4114800"/>
            <a:ext cx="1645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JSON-RPC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114800"/>
            <a:ext cx="1554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retry ×2 → fail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1737360"/>
            <a:ext cx="3154680" cy="31089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85041"/>
                </a:solidFill>
                <a:latin typeface="Segoe UI"/>
              </a:rPr>
              <a:t>Why it matters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• The SLA hint is a registry field, not a guess.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• Blocking dependency → synchronous JSON-RPC.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• Slow / fan-out work → asynchronous Kafka.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• t4 exceeds the 20 s estimate, so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   Orchestrator promotes it to Kafka async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   under a bounds/policy rule.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• On timeout, each agent has an explicit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   retry budget → then fail or partial.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Which canonical pattern each stage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Each well-known agent pattern maps to one stage of the flow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280160" y="1737360"/>
            <a:ext cx="2743200" cy="676656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13970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7500A"/>
                </a:solidFill>
                <a:latin typeface="Segoe UI"/>
              </a:rPr>
              <a:t>Planning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2075688"/>
            <a:ext cx="731520" cy="0"/>
          </a:xfrm>
          <a:prstGeom prst="line">
            <a:avLst/>
          </a:prstGeom>
          <a:ln w="2032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6320" y="1737360"/>
            <a:ext cx="4937760" cy="676656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85041"/>
                </a:solidFill>
                <a:latin typeface="Segoe UI"/>
              </a:rPr>
              <a:t>Planner emits the DAG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578608"/>
            <a:ext cx="2743200" cy="676656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13970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7500A"/>
                </a:solidFill>
                <a:latin typeface="Segoe UI"/>
              </a:rPr>
              <a:t>ReAct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2916936"/>
            <a:ext cx="731520" cy="0"/>
          </a:xfrm>
          <a:prstGeom prst="line">
            <a:avLst/>
          </a:prstGeom>
          <a:ln w="2032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46320" y="2578608"/>
            <a:ext cx="4937760" cy="676656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85041"/>
                </a:solidFill>
                <a:latin typeface="Segoe UI"/>
              </a:rPr>
              <a:t>Autonomous mode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3419856"/>
            <a:ext cx="2743200" cy="676656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13970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7500A"/>
                </a:solidFill>
                <a:latin typeface="Segoe UI"/>
              </a:rPr>
              <a:t>Tool use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69080" y="3758183"/>
            <a:ext cx="731520" cy="0"/>
          </a:xfrm>
          <a:prstGeom prst="line">
            <a:avLst/>
          </a:prstGeom>
          <a:ln w="2032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6320" y="3419856"/>
            <a:ext cx="4937760" cy="676656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85041"/>
                </a:solidFill>
                <a:latin typeface="Segoe UI"/>
              </a:rPr>
              <a:t>Tool / MCP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4261104"/>
            <a:ext cx="2743200" cy="676656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13970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7500A"/>
                </a:solidFill>
                <a:latin typeface="Segoe UI"/>
              </a:rPr>
              <a:t>Reflection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4599432"/>
            <a:ext cx="731520" cy="0"/>
          </a:xfrm>
          <a:prstGeom prst="line">
            <a:avLst/>
          </a:prstGeom>
          <a:ln w="2032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46320" y="4261104"/>
            <a:ext cx="4937760" cy="676656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85041"/>
                </a:solidFill>
                <a:latin typeface="Segoe UI"/>
              </a:rPr>
              <a:t>Completion gate + reflect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5102352"/>
            <a:ext cx="2743200" cy="676656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13970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7500A"/>
                </a:solidFill>
                <a:latin typeface="Segoe UI"/>
              </a:rPr>
              <a:t>Multi-agent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69080" y="5440680"/>
            <a:ext cx="731520" cy="0"/>
          </a:xfrm>
          <a:prstGeom prst="line">
            <a:avLst/>
          </a:prstGeom>
          <a:ln w="2032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46320" y="5102352"/>
            <a:ext cx="4937760" cy="676656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85041"/>
                </a:solidFill>
                <a:latin typeface="Segoe UI"/>
              </a:rPr>
              <a:t>Agent team + blackboard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Agent-to-agent (A2A)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Both supported — the Orchestrator derives the transport, it is not configured per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00200"/>
            <a:ext cx="10835640" cy="6400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C3489"/>
                </a:solidFill>
                <a:latin typeface="Segoe UI"/>
              </a:rPr>
              <a:t>Transport interface (platform)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34AB7"/>
                </a:solidFill>
                <a:latin typeface="Segoe UI"/>
              </a:rPr>
              <a:t>agent.call(target, payload)   ·   agent.publish(topic, event)   ·   agent.subscribe(topic)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5257800" cy="324612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85041"/>
                </a:solidFill>
                <a:latin typeface="Segoe UI"/>
              </a:rPr>
              <a:t>HTTPS / JSON-RPC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Synchronous · point-to-point · low latency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Use when one agent needs a specific answer now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and will wait for it (a blocking call).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• Orchestrator → Database Agent for t1.outage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• Correlation id, request → response, easy to trace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• Natural fit for dependency waves that block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14600"/>
            <a:ext cx="5257800" cy="324612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397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33806"/>
                </a:solidFill>
                <a:latin typeface="Segoe UI"/>
              </a:rPr>
              <a:t>Kafka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54F0B"/>
                </a:solidFill>
                <a:latin typeface="Segoe UI"/>
              </a:rPr>
              <a:t>Asynchronous · pub/sub · durable + replayable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854F0B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54F0B"/>
                </a:solidFill>
                <a:latin typeface="Segoe UI"/>
              </a:rPr>
              <a:t>Use for one-to-many, fire-and-forget, or long jobs.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854F0B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54F0B"/>
                </a:solidFill>
                <a:latin typeface="Segoe UI"/>
              </a:rPr>
              <a:t>• Monitor Agent emits events many consumers tail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54F0B"/>
                </a:solidFill>
                <a:latin typeface="Segoe UI"/>
              </a:rPr>
              <a:t>• Long OASIS scan publishes ‘done’ vs holding HTTP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54F0B"/>
                </a:solidFill>
                <a:latin typeface="Segoe UI"/>
              </a:rPr>
              <a:t>• Outage-change events fan out to interested agents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54F0B"/>
                </a:solidFill>
                <a:latin typeface="Segoe UI"/>
              </a:rPr>
              <a:t>• Backpressure: check consumer lag before publishing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C2C2A"/>
                </a:solidFill>
                <a:latin typeface="Segoe UI"/>
              </a:rPr>
              <a:t>Rule of thumb: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5E5A"/>
                </a:solidFill>
                <a:latin typeface="Segoe UI"/>
              </a:rPr>
              <a:t>need a specific answer and will wait → JSON-RPC   ·   one-to-many / fire-and-forget / durable → 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Memory &amp;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Private scratchpad vs a governed, shared platform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00200"/>
            <a:ext cx="10835640" cy="658368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397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C2C2A"/>
                </a:solidFill>
                <a:latin typeface="Segoe UI"/>
              </a:rPr>
              <a:t>Per-agent scratchpad (private, in-step)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ReAct reasoning and drafts — never a source of truth. Only the final schema-valid output is promoted.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10835640" cy="74980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C3489"/>
                </a:solidFill>
                <a:latin typeface="Segoe UI"/>
              </a:rPr>
              <a:t>Memory / State service (governed interface)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34AB7"/>
                </a:solidFill>
                <a:latin typeface="Segoe UI"/>
              </a:rPr>
              <a:t>state.put / state.get     ·     memory.write / memory.query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34AB7"/>
                </a:solidFill>
                <a:latin typeface="Segoe UI"/>
              </a:rPr>
              <a:t>enforces per-run + per-app scoping, routing, and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8328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85041"/>
                </a:solidFill>
                <a:latin typeface="Segoe UI"/>
              </a:rPr>
              <a:t>Redis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Working state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blackboard, per-run,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hot, TTL / expire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per-run · shared in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338328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85041"/>
                </a:solidFill>
                <a:latin typeface="Segoe UI"/>
              </a:rPr>
              <a:t>Postgres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Relational long-term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past analyses, entity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links, audit trail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cross-run · shared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338328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85041"/>
                </a:solidFill>
                <a:latin typeface="Segoe UI"/>
              </a:rPr>
              <a:t>Milvus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Semantic long-term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embeddings: related 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similar outages, RAG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cross-run · shared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34924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397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33806"/>
                </a:solidFill>
                <a:latin typeface="Segoe UI"/>
              </a:rPr>
              <a:t>Write discipline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During a run, agents write working state (Redis) freely. Durable writes (Postgres / Milvus) commit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only after the completion gate passes — a failed or re-planned run leaves no half-baked facts.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Commit step — what the Synthesizer persists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The schema decides routing, not the LLM — the Synthesizer only filters, dedupes, and commits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97280" y="1691640"/>
            <a:ext cx="4937760" cy="676656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85041"/>
                </a:solidFill>
                <a:latin typeface="Segoe UI"/>
              </a:rPr>
              <a:t>Blackboard outputs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details, related, hits, derates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2368296"/>
            <a:ext cx="0" cy="164592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97280" y="2532888"/>
            <a:ext cx="4937760" cy="676656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397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C2C2A"/>
                </a:solidFill>
                <a:latin typeface="Segoe UI"/>
              </a:rPr>
              <a:t>Keep only persist =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set in output_schema at design 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3209544"/>
            <a:ext cx="0" cy="164592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97280" y="3374136"/>
            <a:ext cx="4937760" cy="676656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397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C2C2A"/>
                </a:solidFill>
                <a:latin typeface="Segoe UI"/>
              </a:rPr>
              <a:t>Dedupe / upsert by key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F5E5A"/>
                </a:solidFill>
                <a:latin typeface="Segoe UI"/>
              </a:rPr>
              <a:t>merge against existing records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4050791"/>
            <a:ext cx="0" cy="164593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97280" y="4215384"/>
            <a:ext cx="4937760" cy="676656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C3489"/>
                </a:solidFill>
                <a:latin typeface="Segoe UI"/>
              </a:rPr>
              <a:t>memory.write(namespace, record)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34AB7"/>
                </a:solidFill>
                <a:latin typeface="Segoe UI"/>
              </a:rPr>
              <a:t>one record → fans out to both stores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35040" y="3657600"/>
            <a:ext cx="1005840" cy="502920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4160520"/>
            <a:ext cx="1005840" cy="502920"/>
          </a:xfrm>
          <a:prstGeom prst="line">
            <a:avLst/>
          </a:prstGeom>
          <a:ln w="17780">
            <a:solidFill>
              <a:srgbClr val="6B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80" y="3291840"/>
            <a:ext cx="4572000" cy="77724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85041"/>
                </a:solidFill>
                <a:latin typeface="Segoe UI"/>
              </a:rPr>
              <a:t>Postgres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structured fields → a row (ids, link type, timestamps)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4297680"/>
            <a:ext cx="4572000" cy="77724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85041"/>
                </a:solidFill>
                <a:latin typeface="Segoe UI"/>
              </a:rPr>
              <a:t>Milvus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6E56"/>
                </a:solidFill>
                <a:latin typeface="Segoe UI"/>
              </a:rPr>
              <a:t>text field → embedding vector (shared key links it to the row)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83480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C2C2A"/>
                </a:solidFill>
                <a:latin typeface="Segoe UI"/>
              </a:rPr>
              <a:t>In the example: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• New outage link → persist → Postgres row + Milvus embedding.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• Details, ERC hits, derates → ephemeral, stay in Redis.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• Generated concerns → persist only if you cache analyses.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Completion gate &amp; Synthesizer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The decision point, then the single composed answer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45920"/>
            <a:ext cx="5257800" cy="402336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C3489"/>
                </a:solidFill>
                <a:latin typeface="Segoe UI"/>
              </a:rPr>
              <a:t>What the completion gate decides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34AB7"/>
                </a:solidFill>
                <a:latin typeface="Segoe UI"/>
              </a:rPr>
              <a:t>Inspects the blackboard and answers one question: done?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534AB7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34AB7"/>
                </a:solidFill>
                <a:latin typeface="Segoe UI"/>
              </a:rPr>
              <a:t>• Bounds first — stop if steps / cost / time exceeded.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34AB7"/>
                </a:solidFill>
                <a:latin typeface="Segoe UI"/>
              </a:rPr>
              <a:t>• Plan satisfied — every subtask’s output_schema met.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34AB7"/>
                </a:solidFill>
                <a:latin typeface="Segoe UI"/>
              </a:rPr>
              <a:t>• Goal met — reflection check on the combined result.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34AB7"/>
                </a:solidFill>
                <a:latin typeface="Segoe UI"/>
              </a:rPr>
              <a:t>• Re-plan guard — iteration counter checked before loop.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534AB7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34AB7"/>
                </a:solidFill>
                <a:latin typeface="Segoe UI"/>
              </a:rPr>
              <a:t>   iter &lt; max  → re-plan with the current snapshot.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34AB7"/>
                </a:solidFill>
                <a:latin typeface="Segoe UI"/>
              </a:rPr>
              <a:t>   iter = max → forced Synthesizer, partial-result flag.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257800" cy="40233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85041"/>
                </a:solidFill>
                <a:latin typeface="Segoe UI"/>
              </a:rPr>
              <a:t>What the Synthesizer produces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Reads the whole blackboard and composes ONE answer.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• Merges details, related, keyword hits, derates, concerns.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• Resolves overlaps and orders the response for the user.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• Marks sections [PARTIAL] where agents errored out.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Does not invent routing — the output_schema decides what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6E56"/>
                </a:solidFill>
                <a:latin typeface="Segoe UI"/>
              </a:rPr>
              <a:t>is persisted; the Synthesizer filters, dedupes, commits.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Observability — tracing, metrics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Every component emits spans, collected into a unified trace per run_id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45920"/>
            <a:ext cx="10835640" cy="65836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397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C3489"/>
                </a:solidFill>
                <a:latin typeface="Segoe UI"/>
              </a:rPr>
              <a:t>Trace collector (platform-wide)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34AB7"/>
                </a:solidFill>
                <a:latin typeface="Segoe UI"/>
              </a:rPr>
              <a:t>run_id → parent span → child spans per agent / tool call  ·  OpenTelemetry-compatible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397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C2C2A"/>
                </a:solidFill>
                <a:latin typeface="Segoe UI"/>
              </a:rPr>
              <a:t>Planner span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F5E5A"/>
                </a:solidFill>
                <a:latin typeface="Segoe UI"/>
              </a:rPr>
              <a:t>intent count,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F5E5A"/>
                </a:solidFill>
                <a:latin typeface="Segoe UI"/>
              </a:rPr>
              <a:t>agents selected,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F5E5A"/>
                </a:solidFill>
                <a:latin typeface="Segoe UI"/>
              </a:rPr>
              <a:t>DAG depth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F5E5A"/>
                </a:solidFill>
                <a:latin typeface="Segoe UI"/>
              </a:rPr>
              <a:t>~200 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26060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397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12B13"/>
                </a:solidFill>
                <a:latin typeface="Segoe UI"/>
              </a:rPr>
              <a:t>Agent span (×N)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93C1D"/>
                </a:solidFill>
                <a:latin typeface="Segoe UI"/>
              </a:rPr>
              <a:t>agent_id, version,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93C1D"/>
                </a:solidFill>
                <a:latin typeface="Segoe UI"/>
              </a:rPr>
              <a:t>wave, 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93C1D"/>
                </a:solidFill>
                <a:latin typeface="Segoe UI"/>
              </a:rPr>
              <a:t>retry_count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93C1D"/>
                </a:solidFill>
                <a:latin typeface="Segoe UI"/>
              </a:rPr>
              <a:t>per SLA hint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3" y="26060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397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33806"/>
                </a:solidFill>
                <a:latin typeface="Segoe UI"/>
              </a:rPr>
              <a:t>Tool span (×M)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54F0B"/>
                </a:solidFill>
                <a:latin typeface="Segoe UI"/>
              </a:rPr>
              <a:t>tool_name, target,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54F0B"/>
                </a:solidFill>
                <a:latin typeface="Segoe UI"/>
              </a:rPr>
              <a:t>status, tokens_used,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54F0B"/>
                </a:solidFill>
                <a:latin typeface="Segoe UI"/>
              </a:rPr>
              <a:t>input/output hash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54F0B"/>
                </a:solidFill>
                <a:latin typeface="Segoe UI"/>
              </a:rPr>
              <a:t>API-dependent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26060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85041"/>
                </a:solidFill>
                <a:latin typeface="Segoe UI"/>
              </a:rPr>
              <a:t>Gate + Synth span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6E56"/>
                </a:solidFill>
                <a:latin typeface="Segoe UI"/>
              </a:rPr>
              <a:t>iter_count, goal_met,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6E56"/>
                </a:solidFill>
                <a:latin typeface="Segoe UI"/>
              </a:rPr>
              <a:t>partial_flags,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6E56"/>
                </a:solidFill>
                <a:latin typeface="Segoe UI"/>
              </a:rPr>
              <a:t>tokens_committed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6E56"/>
                </a:solidFill>
                <a:latin typeface="Segoe UI"/>
              </a:rPr>
              <a:t>~300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72000"/>
            <a:ext cx="10835640" cy="658368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397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C2C2A"/>
                </a:solidFill>
                <a:latin typeface="Segoe UI"/>
              </a:rPr>
              <a:t>Downstream sinks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Spans flow to MLflow (and any OpenTelemetry-compatible backend) for dashboards, diffing, and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Agent versioning — the registry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Version is pinned at plan time, stored in each span, and written to the Postgres audit row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22960" y="1691640"/>
            <a:ext cx="2377440" cy="402336"/>
          </a:xfrm>
          <a:prstGeom prst="rect">
            <a:avLst/>
          </a:prstGeom>
          <a:solidFill>
            <a:srgbClr val="854F0B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691640"/>
            <a:ext cx="3108960" cy="402336"/>
          </a:xfrm>
          <a:prstGeom prst="rect">
            <a:avLst/>
          </a:prstGeom>
          <a:solidFill>
            <a:srgbClr val="854F0B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3291840" cy="402336"/>
          </a:xfrm>
          <a:prstGeom prst="rect">
            <a:avLst/>
          </a:prstGeom>
          <a:solidFill>
            <a:srgbClr val="854F0B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093976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agent_id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093976"/>
            <a:ext cx="3108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historical-comparison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93976"/>
            <a:ext cx="3291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stable identifier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96312"/>
            <a:ext cx="237744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496312"/>
            <a:ext cx="310896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2.3.1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496312"/>
            <a:ext cx="329184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semver, pinned at plan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98648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capability_tags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98648"/>
            <a:ext cx="3108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[“related_outages”, “rag”]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898648"/>
            <a:ext cx="3291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matched by the Planner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00984"/>
            <a:ext cx="237744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input_schema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300984"/>
            <a:ext cx="310896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{ outage_id, region 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300984"/>
            <a:ext cx="329184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validated before dispatch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703320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output_schema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703320"/>
            <a:ext cx="3108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{ related: [ ] 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703320"/>
            <a:ext cx="3291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persist flag per field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105656"/>
            <a:ext cx="237744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sla_ms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4105656"/>
            <a:ext cx="310896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5000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105656"/>
            <a:ext cx="329184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Orchestrator timeout budget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507992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transport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507992"/>
            <a:ext cx="3108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json-rpc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507992"/>
            <a:ext cx="3291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or kafka, or both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910328"/>
            <a:ext cx="237744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910328"/>
            <a:ext cx="310896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active | deprecated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910328"/>
            <a:ext cx="3291840" cy="402336"/>
          </a:xfrm>
          <a:prstGeom prst="rect">
            <a:avLst/>
          </a:prstGeom>
          <a:solidFill>
            <a:srgbClr val="F7F1E6"/>
          </a:solidFill>
          <a:ln w="9525">
            <a:solidFill>
              <a:srgbClr val="DD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C2C2A"/>
                </a:solidFill>
                <a:latin typeface="Segoe UI"/>
              </a:rPr>
              <a:t>Planner skips deprecated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4406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• New version → register as a new record; the old one stays until deprecated.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• Planner pins version at plan time → a run is reproducible by replaying the same plan JSON.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• Breaking output_schema change → major bump; the Planner will not auto-select across majors.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F5E5A"/>
                </a:solidFill>
                <a:latin typeface="Segoe UI"/>
              </a:rPr>
              <a:t>• Trace diff: compare two run_ids to see which agent version changed and how output differed.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C2C2A"/>
                </a:solidFill>
                <a:latin typeface="Segoe UI"/>
              </a:rPr>
              <a:t>Partial streaming &amp; Kafka backpressure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F5E5A"/>
                </a:solidFill>
                <a:latin typeface="Segoe UI"/>
              </a:rPr>
              <a:t>Progressive delivery to the user, with consumer-lag control on the bus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91640"/>
            <a:ext cx="5349240" cy="4114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397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85041"/>
                </a:solidFill>
                <a:latin typeface="Segoe UI"/>
              </a:rPr>
              <a:t>Partial streaming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The Synthesizer does not wait for all waves. As each wave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completes and writes to the blackboard, a wave-done event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is published; the Synthesizer flushes a partial section.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5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• Wave 1 done → stream outage details immediately.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• Wave 2 done → append related outages + derates.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• Wave 3 done → append ERC keyword hits. Final flush.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50" b="0">
              <a:solidFill>
                <a:srgbClr val="0F6E56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• Wave errors → stream a [PARTIAL] placeholder at once;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   the user sees available data without waiting for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F6E56"/>
                </a:solidFill>
                <a:latin typeface="Segoe UI"/>
              </a:rPr>
              <a:t>   full retry 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5257800" cy="411480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397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33806"/>
                </a:solidFill>
                <a:latin typeface="Segoe UI"/>
              </a:rPr>
              <a:t>Kafka backpressure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Problem: if producers outpace consumers, lag grows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unboundedly — delaying agents, bloating the broker,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risking OOM.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150" b="0">
              <a:solidFill>
                <a:srgbClr val="854F0B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Controls: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• Lag alert when consumer lag crosses a threshold.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• Producer pause: the Orchestrator checks lag before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   publishing the next wave → exponential backoff.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• Dead-letter queue on max retry.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• Replayability: Kafka retains messages — a recovered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54F0B"/>
                </a:solidFill>
                <a:latin typeface="Segoe UI"/>
              </a:rPr>
              <a:t>   consumer replays from the last committed offset.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12191695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148840"/>
            <a:ext cx="109728" cy="256032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21031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C2C2A"/>
                </a:solidFill>
                <a:latin typeface="Segoe UI"/>
              </a:rPr>
              <a:t>The shape of 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88036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5E5A"/>
                </a:solidFill>
                <a:latin typeface="Segoe UI"/>
              </a:rPr>
              <a:t>•  The Planner reads a registry and emits a DAG — parallelism is implied by data dependencies.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5E5A"/>
                </a:solidFill>
                <a:latin typeface="Segoe UI"/>
              </a:rPr>
              <a:t>•  The Orchestrator runs the DAG in waves and derives the A2A transport per subtask.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5E5A"/>
                </a:solidFill>
                <a:latin typeface="Segoe UI"/>
              </a:rPr>
              <a:t>•  A shared blackboard decouples agents; durable writes commit only after the gate passes.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5E5A"/>
                </a:solidFill>
                <a:latin typeface="Segoe UI"/>
              </a:rPr>
              <a:t>•  Spans, versioning, streaming, and backpressure make runs observable, reproducible, and resilient.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8A8980"/>
                </a:solidFill>
                <a:latin typeface="Segoe UI"/>
              </a:rPr>
              <a:t>Agentic Framework  ·  Flow · Plan ·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898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2509</Words>
  <Application>Microsoft Office PowerPoint</Application>
  <PresentationFormat>Widescreen</PresentationFormat>
  <Paragraphs>404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Gaurav Tyagi</cp:lastModifiedBy>
  <cp:revision>2</cp:revision>
  <dcterms:created xsi:type="dcterms:W3CDTF">2013-01-27T09:14:16Z</dcterms:created>
  <dcterms:modified xsi:type="dcterms:W3CDTF">2026-05-30T17:16:32Z</dcterms:modified>
  <cp:category/>
</cp:coreProperties>
</file>